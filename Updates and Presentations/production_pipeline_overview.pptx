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The Production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CBD5E1"/>
                </a:solidFill>
                <a:latin typeface="Calibri"/>
              </a:rPr>
              <a:t>One click → a ranked list of detections on the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Consolas"/>
              </a:rPr>
              <a:t>run_production_pipeline(rgb, seed, mpp, rank_key="chromatin_od", max_peaks=100)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731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Consolas"/>
              </a:rPr>
              <a:t>orchestrated end-to-end by production_pipeline/run_pipeline.py  —  a real script, not a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206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  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51206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  Seed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51206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  Search &amp; Rank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51206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  Score &amp; Viz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run_pipeline_on_roi — the whole story, top to bottom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Every stage in this deck is a close-up on one of these real lines, read in this exact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24128"/>
            <a:ext cx="11274552" cy="55321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25296"/>
            <a:ext cx="106984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sz="1300" b="1">
                <a:solidFill>
                  <a:srgbClr val="2563EB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L96  </a:t>
            </a:r>
            <a:r>
              <a:rPr sz="1300">
                <a:solidFill>
                  <a:srgbClr val="111827"/>
                </a:solidFill>
                <a:latin typeface="Consolas"/>
              </a:rPr>
              <a:t>images, annotations = ds.load_annotations(db_path)</a:t>
            </a:r>
            <a:r>
              <a:rPr sz="1050">
                <a:solidFill>
                  <a:srgbClr val="6B7280"/>
                </a:solidFill>
                <a:latin typeface="Consolas"/>
              </a:rPr>
              <a:t>   read MIDOG++.json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2563EB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L98  </a:t>
            </a:r>
            <a:r>
              <a:rPr sz="1300">
                <a:solidFill>
                  <a:srgbClr val="111827"/>
                </a:solidFill>
                <a:latin typeface="Consolas"/>
              </a:rPr>
              <a:t>image_id = images.set_index(...).loc[fn]</a:t>
            </a:r>
            <a:r>
              <a:rPr sz="1050">
                <a:solidFill>
                  <a:srgbClr val="6B7280"/>
                </a:solidFill>
                <a:latin typeface="Consolas"/>
              </a:rPr>
              <a:t>   looked up to seed the rng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2563EB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L100  </a:t>
            </a:r>
            <a:r>
              <a:rPr sz="1300">
                <a:solidFill>
                  <a:srgbClr val="111827"/>
                </a:solidFill>
                <a:latin typeface="Consolas"/>
              </a:rPr>
              <a:t>rgb = ds.load_roi(f"{images_dir}/{fn}")</a:t>
            </a:r>
            <a:r>
              <a:rPr sz="1050">
                <a:solidFill>
                  <a:srgbClr val="6B7280"/>
                </a:solidFill>
                <a:latin typeface="Consolas"/>
              </a:rPr>
              <a:t>   TIFF → RGB array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2563EB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L101  </a:t>
            </a:r>
            <a:r>
              <a:rPr sz="1300">
                <a:solidFill>
                  <a:srgbClr val="111827"/>
                </a:solidFill>
                <a:latin typeface="Consolas"/>
              </a:rPr>
              <a:t>mpp = ds.roi_mpp(f"{images_dir}/{fn}")</a:t>
            </a:r>
            <a:r>
              <a:rPr sz="1050">
                <a:solidFill>
                  <a:srgbClr val="6B7280"/>
                </a:solidFill>
                <a:latin typeface="Consolas"/>
              </a:rPr>
              <a:t>   microns / pixel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2563EB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L103  </a:t>
            </a:r>
            <a:r>
              <a:rPr sz="1300">
                <a:solidFill>
                  <a:srgbClr val="111827"/>
                </a:solidFill>
                <a:latin typeface="Consolas"/>
              </a:rPr>
              <a:t>match_radius = ev.radius_px(mpp)</a:t>
            </a:r>
            <a:r>
              <a:rPr sz="1050">
                <a:solidFill>
                  <a:srgbClr val="6B7280"/>
                </a:solidFill>
                <a:latin typeface="Consolas"/>
              </a:rPr>
              <a:t>   precomputed here, reused by Stage D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2563EB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L104  </a:t>
            </a:r>
            <a:r>
              <a:rPr sz="1300">
                <a:solidFill>
                  <a:srgbClr val="111827"/>
                </a:solidFill>
                <a:latin typeface="Consolas"/>
              </a:rPr>
              <a:t>gray_inv = ch.to_channel(rgb, "gray_inverted")</a:t>
            </a:r>
            <a:r>
              <a:rPr sz="1050">
                <a:solidFill>
                  <a:srgbClr val="6B7280"/>
                </a:solidFill>
                <a:latin typeface="Consolas"/>
              </a:rPr>
              <a:t>   Stage B's structural channel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2563EB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L106  </a:t>
            </a:r>
            <a:r>
              <a:rPr sz="1300">
                <a:solidFill>
                  <a:srgbClr val="111827"/>
                </a:solidFill>
                <a:latin typeface="Consolas"/>
              </a:rPr>
              <a:t>gt = ds.image_annotations(annotations, fn)</a:t>
            </a:r>
            <a:r>
              <a:rPr sz="1050">
                <a:solidFill>
                  <a:srgbClr val="6B7280"/>
                </a:solidFill>
                <a:latin typeface="Consolas"/>
              </a:rPr>
              <a:t>   this ROI's rows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2563EB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L107  </a:t>
            </a:r>
            <a:r>
              <a:rPr sz="1300">
                <a:solidFill>
                  <a:srgbClr val="111827"/>
                </a:solidFill>
                <a:latin typeface="Consolas"/>
              </a:rPr>
              <a:t>gt_mitotic = gt[gt.category_id == MITOTIC]</a:t>
            </a:r>
            <a:r>
              <a:rPr sz="1050">
                <a:solidFill>
                  <a:srgbClr val="6B7280"/>
                </a:solidFill>
                <a:latin typeface="Consolas"/>
              </a:rPr>
              <a:t>   the draw pool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7C3AED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L108  </a:t>
            </a:r>
            <a:r>
              <a:rPr sz="1300">
                <a:solidFill>
                  <a:srgbClr val="111827"/>
                </a:solidFill>
                <a:latin typeface="Consolas"/>
              </a:rPr>
              <a:t>seed = select_annotation(gt_mitotic, gray_inv, roi_shape, image_id, ...)</a:t>
            </a:r>
            <a:r>
              <a:rPr sz="1050">
                <a:solidFill>
                  <a:srgbClr val="6B7280"/>
                </a:solidFill>
                <a:latin typeface="Consolas"/>
              </a:rPr>
              <a:t>   pinned click or random draw → build_seed()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7C3AED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L111  </a:t>
            </a:r>
            <a:r>
              <a:rPr sz="1300">
                <a:solidFill>
                  <a:srgbClr val="111827"/>
                </a:solidFill>
                <a:latin typeface="Consolas"/>
              </a:rPr>
              <a:t>gt_eval = gt[gt.ann_id != seed.ann_id].reset_index(drop=True)</a:t>
            </a:r>
            <a:r>
              <a:rPr sz="1050">
                <a:solidFill>
                  <a:srgbClr val="6B7280"/>
                </a:solidFill>
                <a:latin typeface="Consolas"/>
              </a:rPr>
              <a:t>   exclude the seed from scoring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0D9488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L113  </a:t>
            </a:r>
            <a:r>
              <a:rPr sz="1300">
                <a:solidFill>
                  <a:srgbClr val="111827"/>
                </a:solidFill>
                <a:latin typeface="Consolas"/>
              </a:rPr>
              <a:t>detections, info = prod.run_production_pipeline(rgb, seed, mpp, rank_key=rank_key)</a:t>
            </a:r>
            <a:r>
              <a:rPr sz="1050">
                <a:solidFill>
                  <a:srgbClr val="6B7280"/>
                </a:solidFill>
                <a:latin typeface="Consolas"/>
              </a:rPr>
              <a:t>   search the ROI, rank the candidates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EA580C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L114  </a:t>
            </a:r>
            <a:r>
              <a:rPr sz="1300">
                <a:solidFill>
                  <a:srgbClr val="111827"/>
                </a:solidFill>
                <a:latin typeface="Consolas"/>
              </a:rPr>
              <a:t>det_out, gt_out = ev.bucket_detections(detections, gt_eval, match_radius)</a:t>
            </a:r>
            <a:r>
              <a:rPr sz="1050">
                <a:solidFill>
                  <a:srgbClr val="6B7280"/>
                </a:solidFill>
                <a:latin typeface="Consolas"/>
              </a:rPr>
              <a:t>   label each detection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EA580C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L116  </a:t>
            </a:r>
            <a:r>
              <a:rPr sz="1300">
                <a:solidFill>
                  <a:srgbClr val="111827"/>
                </a:solidFill>
                <a:latin typeface="Consolas"/>
              </a:rPr>
              <a:t>return dict(fn, rank_key, rgb, mpp, seed, match_radius, detections, gt_eval, info)</a:t>
            </a: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sz="1100" i="1">
                <a:solidFill>
                  <a:srgbClr val="78716C"/>
                </a:solidFill>
                <a:latin typeface="Calibri"/>
              </a:rPr>
              <a:t>main() then calls, using this returned result — not from inside run_pipeline_on_roi itself: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EA580C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L119  </a:t>
            </a:r>
            <a:r>
              <a:rPr sz="1300">
                <a:solidFill>
                  <a:srgbClr val="111827"/>
                </a:solidFill>
                <a:latin typeface="Consolas"/>
              </a:rPr>
              <a:t>summarize(result, top_n=10)</a:t>
            </a:r>
            <a:r>
              <a:rPr sz="1050">
                <a:solidFill>
                  <a:srgbClr val="6B7280"/>
                </a:solidFill>
                <a:latin typeface="Consolas"/>
              </a:rPr>
              <a:t>   precision / recall @ top_n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EA580C"/>
                </a:solidFill>
                <a:latin typeface="Consolas"/>
              </a:rPr>
              <a:t>■ </a:t>
            </a:r>
            <a:r>
              <a:rPr sz="1150">
                <a:solidFill>
                  <a:srgbClr val="6B7280"/>
                </a:solidFill>
                <a:latin typeface="Consolas"/>
              </a:rPr>
              <a:t>L137  </a:t>
            </a:r>
            <a:r>
              <a:rPr sz="1300">
                <a:solidFill>
                  <a:srgbClr val="111827"/>
                </a:solidFill>
                <a:latin typeface="Consolas"/>
              </a:rPr>
              <a:t>visualize(result, ax, downsample, top_n)</a:t>
            </a:r>
            <a:r>
              <a:rPr sz="1050">
                <a:solidFill>
                  <a:srgbClr val="6B7280"/>
                </a:solidFill>
                <a:latin typeface="Consolas"/>
              </a:rPr>
              <a:t>   viz.overlay() + viz.draw_box()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the same story, chunked into four stages for closer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6060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40180" y="1627632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11827"/>
                </a:solidFill>
                <a:latin typeface="Calibri"/>
              </a:rPr>
              <a:t>Load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onsolas"/>
              </a:rPr>
              <a:t>dataset.py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• ROI image + annotations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• + microns-per-pixel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36392" y="3474720"/>
            <a:ext cx="192024" cy="0"/>
          </a:xfrm>
          <a:prstGeom prst="line">
            <a:avLst/>
          </a:prstGeom>
          <a:ln w="28575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55848" y="1371600"/>
            <a:ext cx="26060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93107" y="1627632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5146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11827"/>
                </a:solidFill>
                <a:latin typeface="Calibri"/>
              </a:rPr>
              <a:t>Pick &amp; gate the 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30632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onsolas"/>
              </a:rPr>
              <a:t>run_pipeline.py + seed_selection.py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5204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• select_annotation() → build_seed()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97763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• pinned click (--ann-id) or random draw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" y="3474720"/>
            <a:ext cx="192023" cy="0"/>
          </a:xfrm>
          <a:prstGeom prst="line">
            <a:avLst/>
          </a:prstGeom>
          <a:ln w="28575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08776" y="1371600"/>
            <a:ext cx="26060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46036" y="1627632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5146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11827"/>
                </a:solidFill>
                <a:latin typeface="Calibri"/>
              </a:rPr>
              <a:t>Search &amp; 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0632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onsolas"/>
              </a:rPr>
              <a:t>production.py + find_and_suppress.py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35204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• run_production_pipeline()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97763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• template match → NMS → rank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42248" y="3474720"/>
            <a:ext cx="192024" cy="0"/>
          </a:xfrm>
          <a:prstGeom prst="line">
            <a:avLst/>
          </a:prstGeom>
          <a:ln w="28575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61704" y="1371600"/>
            <a:ext cx="26060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98964" y="1627632"/>
            <a:ext cx="731520" cy="7315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25146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11827"/>
                </a:solidFill>
                <a:latin typeface="Calibri"/>
              </a:rPr>
              <a:t>Score &amp; visualize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30632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onsolas"/>
              </a:rPr>
              <a:t>run_pipeline.py (evaluate.py + viz.py)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5204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• run_pipeline_on_roi() scores it;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397763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74151"/>
                </a:solidFill>
                <a:latin typeface="Calibri"/>
              </a:rPr>
              <a:t>• summarize() + visualize() + a CLI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Every function shown from here on is one that actually appears in this call graph — nothing from an unused code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Stage overview — call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dataset.py, driven by run_pipeline.py's run_pipeline_on_roi()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96112"/>
            <a:ext cx="11274552" cy="923543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run_pipeline_on_roi L96:  </a:t>
            </a:r>
            <a:r>
              <a:rPr sz="1150" b="0">
                <a:solidFill>
                  <a:srgbClr val="44403C"/>
                </a:solidFill>
                <a:latin typeface="Consolas"/>
              </a:rPr>
              <a:t>images, annotations = ds.load_annotations(db_path)</a:t>
            </a:r>
          </a:p>
          <a:p>
            <a:pPr>
              <a:lnSpc>
                <a:spcPct val="110000"/>
              </a:lnSpc>
            </a:pPr>
            <a:r>
              <a:rPr sz="1050" i="1">
                <a:solidFill>
                  <a:srgbClr val="78716C"/>
                </a:solidFill>
                <a:latin typeface="Calibri"/>
              </a:rPr>
              <a:t>… 6 more lines building on this: image_id, rgb, mpp, match_radius, gray_inv …</a:t>
            </a:r>
          </a:p>
          <a:p>
            <a:pPr>
              <a:lnSpc>
                <a:spcPct val="11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run_pipeline_on_roi L107:  </a:t>
            </a:r>
            <a:r>
              <a:rPr sz="1150" b="0">
                <a:solidFill>
                  <a:srgbClr val="44403C"/>
                </a:solidFill>
                <a:latin typeface="Consolas"/>
              </a:rPr>
              <a:t>gt_mitotic = gt[gt.category_id == MITOTIC]   — the draw pool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11095"/>
            <a:ext cx="11274552" cy="4809744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39696"/>
            <a:ext cx="10607040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2563EB"/>
                </a:solidFill>
                <a:latin typeface="Consolas"/>
              </a:rPr>
              <a:t>load_annotations(json_path)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dataset.py:55 — JSON → images / annotations tables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11827"/>
                </a:solidFill>
                <a:latin typeface="Consolas"/>
              </a:rPr>
              <a:t>├─ image_id = images.set_index('file_name').loc[fn]</a:t>
            </a:r>
            <a:r>
              <a:rPr sz="1350" b="0">
                <a:solidFill>
                  <a:srgbClr val="6B7280"/>
                </a:solidFill>
                <a:latin typeface="Consolas"/>
              </a:rPr>
              <a:t>   run_pipeline.py:98 — needed to seed the rng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2563EB"/>
                </a:solidFill>
                <a:latin typeface="Consolas"/>
              </a:rPr>
              <a:t>load_roi(path)  /  roi_mpp(path)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dataset.py:155 / :171 — RGB array / microns-per-pixel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11827"/>
                </a:solidFill>
                <a:latin typeface="Consolas"/>
              </a:rPr>
              <a:t>├─ match_radius = radius_px(mpp)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run_pipeline.py:103 — precomputed here, reused by Stage D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11827"/>
                </a:solidFill>
                <a:latin typeface="Consolas"/>
              </a:rPr>
              <a:t>└─ gray_inv = to_channel(rgb, 'gray_inverted')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run_pipeline.py:104 — the structural channel Stage B's gate reads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2563EB"/>
                </a:solidFill>
                <a:latin typeface="Consolas"/>
              </a:rPr>
              <a:t>image_annotations(annotations, file_name)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dataset.py:141 — filter to this ROI's rows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11827"/>
                </a:solidFill>
                <a:latin typeface="Consolas"/>
              </a:rPr>
              <a:t>└─ gt_mitotic = gt[gt.category_id == MITOTIC]</a:t>
            </a:r>
            <a:r>
              <a:rPr sz="1350" b="0">
                <a:solidFill>
                  <a:srgbClr val="6B7280"/>
                </a:solidFill>
                <a:latin typeface="Consolas"/>
              </a:rPr>
              <a:t>   (inline pandas filter, not a function call)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Loading the ROI and its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Load the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1082497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64E63"/>
                </a:solidFill>
                <a:latin typeface="Consolas"/>
              </a:rPr>
              <a:t>load_annotations(json_path)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TLBR bbox → (cx, cy) box centre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count votes: n_votes, n_mitotic_votes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326081"/>
            <a:ext cx="9326880" cy="1082497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64E63"/>
                </a:solidFill>
                <a:latin typeface="Consolas"/>
              </a:rPr>
              <a:t>load_roi(path)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tifffile read — handles flat + 7-level LZW pyramid layouts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strips the (uniform) alpha channel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3554883"/>
            <a:ext cx="9326880" cy="1082497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64E63"/>
                </a:solidFill>
                <a:latin typeface="Consolas"/>
              </a:rPr>
              <a:t>roi_mpp(path)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reads XResolution + ResolutionUnit tags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unit 2 = inch vs unit 3 = cm branch — 2 of 4 scanners store 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4783685"/>
            <a:ext cx="9326880" cy="86342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image_annotations(annotations, file_name)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filters the full annotations table to this ROI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793410"/>
            <a:ext cx="9326880" cy="863421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4532D"/>
                </a:solidFill>
                <a:latin typeface="Consolas"/>
              </a:rPr>
              <a:t>gt_mitotic = gt[category_id == MITOTIC]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4532D"/>
                </a:solidFill>
                <a:latin typeface="Calibri"/>
              </a:rPr>
              <a:t>–  inline pandas filter — the pool select_annotation draws from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59" y="2179777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59" y="3408578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59" y="4637380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59" y="5647106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What run_pipeline_on_roi() prepares before picking a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new in run_pipeline.py — not just the loading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1644696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64E63"/>
                </a:solidFill>
                <a:latin typeface="Consolas"/>
              </a:rPr>
              <a:t>image_id = images.set_index('file_name')['image_id'].loc[fn]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a plain lookup, not a midog_utils call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seeds the rng deterministically: [seed_index, image_id]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888280"/>
            <a:ext cx="9326880" cy="1644696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match_radius = ev.radius_px(mpp)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same formula Stage C computes independently for its NMS radius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precomputed here by the caller; reused later for scoring and the overlay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4679280"/>
            <a:ext cx="9326880" cy="197755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gray_inv = ch.to_channel(rgb, 'gray_inverted')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255 - grayscale — cheap, stain-agnostic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distinct from Stage C's hematoxylin_od search channel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this is what select_annotation/build_seed's Otsu gate actually reads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59" y="2741976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59" y="4532976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Stage overview — call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select_annotation → build_seed — run_pipeline.py + seed_selection.py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96112"/>
            <a:ext cx="11274552" cy="393192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7C3AED"/>
                </a:solidFill>
                <a:latin typeface="Consolas"/>
              </a:rPr>
              <a:t>run_pipeline_on_roi L108:  </a:t>
            </a:r>
            <a:r>
              <a:rPr sz="1150" b="0">
                <a:solidFill>
                  <a:srgbClr val="44403C"/>
                </a:solidFill>
                <a:latin typeface="Consolas"/>
              </a:rPr>
              <a:t>seed = select_annotation(gt_mitotic, gray_inv, roi_shape, image_id, ann_id=ann_id, ...)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80744"/>
            <a:ext cx="11274552" cy="5340096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9344"/>
            <a:ext cx="10607040" cy="492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7C3AED"/>
                </a:solidFill>
                <a:latin typeface="Consolas"/>
              </a:rPr>
              <a:t>select_annotation(gt_mitotic, gray_inv, roi_shape, image_id)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run_pipeline.py:48 — decides which annotation becomes the click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├─ ann_id given?  → pool = gt_mitotic[ann_id]</a:t>
            </a:r>
            <a:r>
              <a:rPr sz="1000" b="0">
                <a:solidFill>
                  <a:srgbClr val="6B7280"/>
                </a:solidFill>
                <a:latin typeface="Consolas"/>
              </a:rPr>
              <a:t>   the click-to-verify path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│    else         → pool = gt_mitotic  (full pool)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the random-draw path — today's demo default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├─ rng = default_rng([seed_index, image_id])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deterministic per (seed_index, image_id)</a:t>
            </a:r>
          </a:p>
          <a:p>
            <a:pPr>
              <a:lnSpc>
                <a:spcPct val="112000"/>
              </a:lnSpc>
            </a:pPr>
            <a:r>
              <a:rPr sz="1250" b="1">
                <a:solidFill>
                  <a:srgbClr val="7C3AED"/>
                </a:solidFill>
                <a:latin typeface="Consolas"/>
              </a:rPr>
              <a:t>└─ build_seed(pool, gray_inv, rng, roi_shape)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seed_selection.py:513 — unchanged production code below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     ├─ agreement_pool(pool)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:48 — unanimous calls, else 2-of-3 + flag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     ├─ border_filter(pool, border, roi_shape)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:69 — drop annotations too near the edge</a:t>
            </a:r>
          </a:p>
          <a:p>
            <a:pPr>
              <a:lnSpc>
                <a:spcPct val="112000"/>
              </a:lnSpc>
            </a:pPr>
            <a:r>
              <a:rPr sz="1250" b="1">
                <a:solidFill>
                  <a:srgbClr val="7C3AED"/>
                </a:solidFill>
                <a:latin typeface="Consolas"/>
              </a:rPr>
              <a:t>     └─ LOOP — draw w/o replacement, retry on rejection: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          ├─ tightened_template_box(channel, cx, cy, ...)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:431 — the D8 seed constructor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          │    ├─ read_padded_patch(channel, cx, cy, 51)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template_match.py:102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          │    └─ tighten_box_otsu(patch, ...)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seed_selection.py:104 — THE GATE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          │         ├─ cv2.threshold(OTSU) → label(connectivity=2)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          │         ├─ center_label = labels[cy, cx]</a:t>
            </a:r>
            <a:r>
              <a:rPr sz="1000" b="0">
                <a:solidFill>
                  <a:srgbClr val="6B7280"/>
                </a:solidFill>
                <a:latin typeface="Consolas"/>
              </a:rPr>
              <a:t>   click's OWN pixel, not the largest blob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          │         └─ reject unless: fg &amp; bbox-contains &amp; area[50,0.85f] &amp; solidity≥0.5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          └─ _patch_readable(roi_shape, center_x, center_y, 73)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:501 — must still fit a 73×73 read</a:t>
            </a:r>
          </a:p>
          <a:p>
            <a:pPr>
              <a:lnSpc>
                <a:spcPct val="112000"/>
              </a:lnSpc>
            </a:pPr>
            <a:r>
              <a:rPr sz="1250" b="1">
                <a:solidFill>
                  <a:srgbClr val="7C3AED"/>
                </a:solidFill>
                <a:latin typeface="Consolas"/>
              </a:rPr>
              <a:t>returns Seed(click_xy, template_xy, base_size, ...)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:478 (frozen dataclass)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Building the candidate 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select_annotation() decides the click; build_seed() gates and recentres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1977551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64E63"/>
                </a:solidFill>
                <a:latin typeface="Consolas"/>
              </a:rPr>
              <a:t>select_annotation(...) — decide the click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--ann-id given → pool = gt_mitotic[ann_id]  (pinned click, the click-to-verify path)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else → pool = full gt_mitotic  (random draw, seeded on [seed_index, image_id])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either way, pool still flows through the agreement/border/gate checks below — a pinned click can still be refused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3221135"/>
            <a:ext cx="9326880" cy="1644696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agreement_pool(pool)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prefer unanimous mitotic calls (n_mitotic_votes == n_votes)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else: fall back to the 2-of-3 contested tier + flag the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5012135"/>
            <a:ext cx="9326880" cy="1644696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border_filter(pool, border, roi_shape)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drop annotations within border = patch_size//2 = 36px of the ROI edge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tested on the rounded pixel, matching read_padded_patch's own rounding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59" y="3074831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59" y="4865831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The draw and the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tighten_box_otsu — is the click actually sitting on chromatin?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097280"/>
            <a:ext cx="6949440" cy="1064687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64E63"/>
                </a:solidFill>
                <a:latin typeface="Consolas"/>
              </a:rPr>
              <a:t>draw one row (no replacement)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cx, cy = the raw pathologist click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pool is either the full mitotic set (random draw) or one pinned row (--ann-id)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308271"/>
            <a:ext cx="6949440" cy="1064687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read_padded_patch(channel, cx, cy, 51)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51×51 window centred on the click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returns None if too close to the ROI 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519263"/>
            <a:ext cx="6949440" cy="1495632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78350F"/>
                </a:solidFill>
                <a:latin typeface="Consolas"/>
              </a:rPr>
              <a:t>tighten_box_otsu(patch, ...)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normalize → uint8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cv2.threshold(OTSU) — binary foreground split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skimage.measure.label(connectivity=2)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center_label = labels[cy, cx]  — the click's OWN pixel, not the largest blob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5161199"/>
            <a:ext cx="6949440" cy="1495632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78350F"/>
                </a:solidFill>
                <a:latin typeface="Consolas"/>
              </a:rPr>
              <a:t>reject unless ALL hold: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center_label ≠ 0 (foreground at all)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click falls inside that component's own bbox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50 ≤ region.area ≤ 0.85 × 51² px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region.solidity ≥ 0.5 (not two nuclei bridged)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26279" y="2161967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79" y="3372958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79" y="5014895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66760" y="4892040"/>
            <a:ext cx="3246120" cy="1051560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14532D"/>
                </a:solidFill>
                <a:latin typeface="Consolas"/>
              </a:rPr>
              <a:t>ACCEPTED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4532D"/>
                </a:solidFill>
                <a:latin typeface="Calibri"/>
              </a:rPr>
              <a:t>–  (y0, y1, x0, x1) — component bbox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4532D"/>
                </a:solidFill>
                <a:latin typeface="Calibri"/>
              </a:rPr>
              <a:t>–  → continue to Stage B, next slide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417320"/>
            <a:ext cx="3246120" cy="1051560"/>
          </a:xfrm>
          <a:prstGeom prst="roundRect">
            <a:avLst>
              <a:gd name="adj" fmla="val 90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7F1D1D"/>
                </a:solidFill>
                <a:latin typeface="Consolas"/>
              </a:rPr>
              <a:t>REJECTED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F1D1D"/>
                </a:solidFill>
                <a:latin typeface="Calibri"/>
              </a:rPr>
              <a:t>–  patch unreadable, or gate fails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F1D1D"/>
                </a:solidFill>
                <a:latin typeface="Calibri"/>
              </a:rPr>
              <a:t>–  → candidate dropped, redraw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001000" y="5394960"/>
            <a:ext cx="365760" cy="514055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001000" y="1920240"/>
            <a:ext cx="365760" cy="3988775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366760" y="1417320"/>
            <a:ext cx="45720" cy="212303"/>
          </a:xfrm>
          <a:prstGeom prst="line">
            <a:avLst/>
          </a:prstGeom>
          <a:ln w="19050">
            <a:solidFill>
              <a:srgbClr val="DC262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18120" y="2834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A34A"/>
                </a:solidFill>
                <a:latin typeface="Calibri"/>
              </a:rPr>
              <a:t>accept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9319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C2626"/>
                </a:solidFill>
                <a:latin typeface="Calibri"/>
              </a:rPr>
              <a:t>reject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8046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8961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C2626"/>
                </a:solidFill>
                <a:latin typeface="Calibri"/>
              </a:rPr>
              <a:t>reject → redraw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Recentring and 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D8's half-pixel correction, the readability re-check, and the Seed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097280"/>
            <a:ext cx="6949440" cy="963383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base_size = odd(max(y1-y0, x1-x0))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the template's native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06967"/>
            <a:ext cx="6949440" cy="1696704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half-pixel recentre (D8)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half = otsu_window // 2 = 25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ix, iy = round(cx, cy)  — matches read_padded_patch's own rounding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center_x = ix - half + (x0 + x1 - 1) / 2.0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center_y = iy - half + (y0 + y1 - 1) / 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049976"/>
            <a:ext cx="6949440" cy="1207823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78350F"/>
                </a:solidFill>
                <a:latin typeface="Consolas"/>
              </a:rPr>
              <a:t>_patch_readable(roi_shape, center_x, center_y, 73)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re-checks the RECENTRED point still fits a full 73×73 rotation-safe read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recentred point can sit closer to the edge than the click did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26279" y="2060663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26279" y="3903671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66760" y="3246120"/>
            <a:ext cx="3246120" cy="1234440"/>
          </a:xfrm>
          <a:prstGeom prst="roundRect">
            <a:avLst>
              <a:gd name="adj" fmla="val 90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7F1D1D"/>
                </a:solidFill>
                <a:latin typeface="Consolas"/>
              </a:rPr>
              <a:t>NOT READABLE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F1D1D"/>
                </a:solidFill>
                <a:latin typeface="Calibri"/>
              </a:rPr>
              <a:t>–  → refuse this candidate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F1D1D"/>
                </a:solidFill>
                <a:latin typeface="Calibri"/>
              </a:rPr>
              <a:t>–  loop redraws (previous slide)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001000" y="3840480"/>
            <a:ext cx="365760" cy="813407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0" y="32918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C2626"/>
                </a:solidFill>
                <a:latin typeface="Calibri"/>
              </a:rPr>
              <a:t>fail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486400"/>
            <a:ext cx="9326880" cy="1143000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14532D"/>
                </a:solidFill>
                <a:latin typeface="Consolas"/>
              </a:rPr>
              <a:t>Seed(click_xy, template_xy, base_size, recentred, offset_px, ...)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14532D"/>
                </a:solidFill>
                <a:latin typeface="Calibri"/>
              </a:rPr>
              <a:t>–  click_xy — the raw click; PERMANENT ground-truth reference; template_xy — gated + recentred, where the template is cut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14532D"/>
                </a:solidFill>
                <a:latin typeface="Calibri"/>
              </a:rPr>
              <a:t>–  different points under recentre=True (the default) — never interchangeable downstream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14532D"/>
                </a:solidFill>
                <a:latin typeface="Calibri"/>
              </a:rPr>
              <a:t>–  caller (run_pipeline.py) then excludes it: gt_eval = gt[ann_id != seed.ann_id]  — ground truth never moves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5257799"/>
            <a:ext cx="1188720" cy="228601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94960" y="52852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A34A"/>
                </a:solidFill>
                <a:latin typeface="Calibri"/>
              </a:rPr>
              <a:t>pass 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Stage overview — call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run_production_pipeline — production.py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96112"/>
            <a:ext cx="11274552" cy="393192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0D9488"/>
                </a:solidFill>
                <a:latin typeface="Consolas"/>
              </a:rPr>
              <a:t>run_pipeline_on_roi L113:  </a:t>
            </a:r>
            <a:r>
              <a:rPr sz="1150" b="0">
                <a:solidFill>
                  <a:srgbClr val="44403C"/>
                </a:solidFill>
                <a:latin typeface="Consolas"/>
              </a:rPr>
              <a:t>detections, info = prod.run_production_pipeline(rgb, seed, mpp, rank_key=rank_key)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80744"/>
            <a:ext cx="11274552" cy="5340096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9344"/>
            <a:ext cx="10607040" cy="492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0D9488"/>
                </a:solidFill>
                <a:latin typeface="Consolas"/>
              </a:rPr>
              <a:t>run_production_pipeline(rgb, seed, mpp, rank_key='chromatin_od', max_peaks=100)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production.py:44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├─ ch.to_channel(rgb, 'hematoxylin_od') → rgb2hed(...)[:,:,0]</a:t>
            </a:r>
            <a:r>
              <a:rPr sz="1000" b="0">
                <a:solidFill>
                  <a:srgbClr val="6B7280"/>
                </a:solidFill>
                <a:latin typeface="Consolas"/>
              </a:rPr>
              <a:t>   channels.py:78 — unclipped OD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├─ ev.radius_px(mpp)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evaluate.py:53 — 7.5µm → px, per-ROI scanner res.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├─ FSConfig(base_size, scales=(1.0,), n_angles=1, max_peaks=100, ...)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find_and_suppress.py:34 — settings bundle</a:t>
            </a:r>
          </a:p>
          <a:p>
            <a:pPr>
              <a:lnSpc>
                <a:spcPct val="112000"/>
              </a:lnSpc>
            </a:pPr>
            <a:r>
              <a:rPr sz="1250" b="1">
                <a:solidFill>
                  <a:srgbClr val="0D9488"/>
                </a:solidFill>
                <a:latin typeface="Consolas"/>
              </a:rPr>
              <a:t>├─ find_and_suppress(hem, template_xy, cfg, nms_radius)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find_and_suppress.py:101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│   ├─ tm.read_padded_patch(hem, tx, ty, 73)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73×73 crop at the TEMPLATE point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│   ├─ tm.build_augmentations(...)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→ 1 template at production settings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│   ├─ cv2.copyMakeBorder(hem, pad, REPLICATE)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border_pad=True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│   ├─ tm.fused_response(padded, templates, TM_CCOEFF)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matchTemplate + centre-offset shift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│   ├─ tm.robust_stats(fused, valid) → threshold = med + (-1.5)×MAD</a:t>
            </a:r>
            <a:r>
              <a:rPr sz="1000" b="0">
                <a:solidFill>
                  <a:srgbClr val="6B7280"/>
                </a:solidFill>
                <a:latin typeface="Consolas"/>
              </a:rPr>
              <a:t>   deep floor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│   ├─ tm.extract_peaks(fused, valid, 7, threshold, 100)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dilate → lexsort → top 100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│   ├─ nms_by_distance(centers, scores, nms_radius)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KDTree greedy suppression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│   └─ self-hit removal: drop points ≤ 5.0px of template_xy</a:t>
            </a:r>
          </a:p>
          <a:p>
            <a:pPr>
              <a:lnSpc>
                <a:spcPct val="112000"/>
              </a:lnSpc>
            </a:pPr>
            <a:r>
              <a:rPr sz="1250" b="0">
                <a:solidFill>
                  <a:srgbClr val="111827"/>
                </a:solidFill>
                <a:latin typeface="Consolas"/>
              </a:rPr>
              <a:t>├─ inv.check_nms_radius(...) / inv.check_no_cap(...)</a:t>
            </a:r>
            <a:r>
              <a:rPr sz="1000" b="0">
                <a:solidFill>
                  <a:srgbClr val="6B7280"/>
                </a:solidFill>
                <a:latin typeface="Consolas"/>
              </a:rPr>
              <a:t>   invariants.py — record, don't gate</a:t>
            </a:r>
          </a:p>
          <a:p>
            <a:pPr>
              <a:lnSpc>
                <a:spcPct val="112000"/>
              </a:lnSpc>
            </a:pPr>
            <a:r>
              <a:rPr sz="1250" b="1">
                <a:solidFill>
                  <a:srgbClr val="0D9488"/>
                </a:solidFill>
                <a:latin typeface="Consolas"/>
              </a:rPr>
              <a:t>├─ [rank_key=='chromatin_od']: cm.score_detections → chromatin_density</a:t>
            </a:r>
            <a:r>
              <a:rPr sz="1000" b="0">
                <a:solidFill>
                  <a:srgbClr val="6B7280"/>
                </a:solidFill>
                <a:latin typeface="Consolas"/>
              </a:rPr>
              <a:t>   chromatin.py:140 — opt-in axis</a:t>
            </a:r>
          </a:p>
          <a:p>
            <a:pPr>
              <a:lnSpc>
                <a:spcPct val="112000"/>
              </a:lnSpc>
            </a:pPr>
            <a:r>
              <a:rPr sz="1250" b="1">
                <a:solidFill>
                  <a:srgbClr val="0D9488"/>
                </a:solidFill>
                <a:latin typeface="Consolas"/>
              </a:rPr>
              <a:t>└─ sort_values('od', mergesort) → reassign rank → return (detections, info)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Channel conversion, match radius, and the config bundle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Search &amp; 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1755647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to_channel(rgb, 'hematoxylin_od')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→ to_hematoxylin_od → cm.hematoxylin_od(rgb)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skimage.color.rgb2hed(rgb/255)[:, :, 0]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UNCLIPPED optical density — dark chromatin = high value, never rescaled to 0-255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999231"/>
            <a:ext cx="9326880" cy="1460142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radius_px(mpp)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7.5µm (MIDOG_RADIUS_UM) / mpp → pixels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computed PER ROI from that scanner's own resolution (29.6–33.1px across the dataset)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4605678"/>
            <a:ext cx="9326880" cy="2051153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334155"/>
                </a:solidFill>
                <a:latin typeface="Consolas"/>
              </a:rPr>
              <a:t>FSConfig(...)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–  channel, base_size, scales=(1.0,), n_angles=1, flips=(False,), peak_min_distance=7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–  max_peaks=100, nms_radius, self_hit_radius=5.0, deep_floor_z=-1.5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–  border_pad=True, tm_method=TM_CCOEFF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–  just a settings bundle — nothing computed yet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59" y="2852927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59" y="4459373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find_and_suppress — cutting and augmenting the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Search &amp; 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1644696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read_padded_patch(hem, tx, ty, 73)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73×73 crop centred on the TEMPLATE point (seed.template_xy, not the click)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73 = ⌈51√2⌉ — survives an arbitrary rotation, no fabricated pixels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888280"/>
            <a:ext cx="9326880" cy="197755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build_augmentations(patch, base_size, scales, n_angles, flips)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flip × angle × scale loop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AT PRODUCTION SETTINGS: exactly 1 template — no rotation / flip / scale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(the general 12-angle × 2-flip machinery is a documented no-op here)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5012135"/>
            <a:ext cx="9326880" cy="1644696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64E63"/>
                </a:solidFill>
                <a:latin typeface="Consolas"/>
              </a:rPr>
              <a:t>cv2.copyMakeBorder(hem, pad, BORDER_REPLICATE)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pads the whole ROI by half the template size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so correlation reaches every real pixel, including near the border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59" y="2741976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59" y="4865831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find_and_suppress — correlating against the whole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Search &amp; 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86342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for each template: cv2.matchTemplate(img, tmpl, TM_CCOEFF)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one call per augmentation — here, exactly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107005"/>
            <a:ext cx="9326880" cy="1082497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sign-flip + nan_to_num guard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distance methods (TM_SQDIFF) negated to “higher = better” — no-op for TM_CCOEFF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zero-variance windows → NaN → replaced with a floor sentinel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3335807"/>
            <a:ext cx="9326880" cy="1082497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78350F"/>
                </a:solidFill>
                <a:latin typeface="Consolas"/>
              </a:rPr>
              <a:t>centre-offset shift: oy, ox = (size-1)//2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raw map is indexed by template TOP-LEFT → shifted to CENTRE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get this wrong → every detection shifts 10–25px (looks like “TM doesn't work”)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4564608"/>
            <a:ext cx="9326880" cy="1301574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copyto: keep element-wise max + winning-aug index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fused[...] = max(existing, res)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best[...] = index of the winning augmentation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valid[...] = True wherever any template reached that pixel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6012487"/>
            <a:ext cx="9326880" cy="644344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64E63"/>
                </a:solidFill>
                <a:latin typeface="Consolas"/>
              </a:rPr>
              <a:t>crop the padded result back to the ROI's original shape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59" y="1960700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59" y="3189502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59" y="4418304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59" y="5866182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Robust background stats and the adaptive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Search &amp; 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295534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robust_stats(fused, valid)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stride-8 sample of valid pixels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median + 1.4826×MAD — this ROI's own “typical background correlation”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recomputed fresh every run, not a fixed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4198924"/>
            <a:ext cx="9326880" cy="2457907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78350F"/>
                </a:solidFill>
                <a:latin typeface="Consolas"/>
              </a:rPr>
              <a:t>threshold = median + (-1.5) × MAD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cfg.deep_floor_z = -1.5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deliberately permissive — “deep floor” is not the real selectivity gate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59" y="4052620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find_and_suppress — extract_peaks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Search &amp; 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150924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cv2.dilate(fused, 15×15 kernel)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k = 2 × peak_min_distance + 1 = 15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cheap local-maxima thinning before real de-duplication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752825"/>
            <a:ext cx="9326880" cy="898357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78350F"/>
                </a:solidFill>
                <a:latin typeface="Consolas"/>
              </a:rPr>
              <a:t>mask = (fused ≥ dilated) &amp; valid &amp; (fused ≥ threshold)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3797487"/>
            <a:ext cx="9326880" cy="150924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order = lexsort((y, x, -score))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a GLOBAL tie-break key: score desc, then x, then y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not argsort — quicksort ties are unstable and break differently by pool 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5453032"/>
            <a:ext cx="9326880" cy="1203799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4532D"/>
                </a:solidFill>
                <a:latin typeface="Consolas"/>
              </a:rPr>
              <a:t>keep top max_peaks = 100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4532D"/>
                </a:solidFill>
                <a:latin typeface="Calibri"/>
              </a:rPr>
              <a:t>–  ~17,000+ raw candidates on a 39-megapixel ROI → cut to exactly 100, every run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59" y="2606521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59" y="3651182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59" y="5306728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find_and_suppress — NMS and self-hit removal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Search &amp; 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197755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nms_by_distance(centers, scores, nms_radius)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KDTree(centers).query_radius(r = nms_radius)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stable argsort by −score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greedy: keep the next unsuppressed point, suppress its neighbours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3221135"/>
            <a:ext cx="9326880" cy="1977551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78350F"/>
                </a:solidFill>
                <a:latin typeface="Consolas"/>
              </a:rPr>
              <a:t>self-hit removal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d = hypot(point − template_xy)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drop points with d ≤ self_hit_radius = 5.0px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removes the seed's own near-perfect self-correlation peak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5344990"/>
            <a:ext cx="9326880" cy="1311841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4532D"/>
                </a:solidFill>
                <a:latin typeface="Consolas"/>
              </a:rPr>
              <a:t>detections DataFrame: rank, cx, cy, score, angle, flip, scale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4532D"/>
                </a:solidFill>
                <a:latin typeface="Calibri"/>
              </a:rPr>
              <a:t>–  angle/flip/scale looked up per point via best[y, x] → metas[]  (the winning augmentation)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59" y="3074831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59" y="5198686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Invariant checks — recorded, not enforced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Search &amp; 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1755647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334155"/>
                </a:solidFill>
                <a:latin typeface="Consolas"/>
              </a:rPr>
              <a:t>info["max_peaks_binding"] = (n_peaks == max_peaks)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–  D9: meant to bind on nearly every ROI (~17k pre-NMS peaks → 100)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–  recorded as a fact, not invariant-checked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999231"/>
            <a:ext cx="9326880" cy="1755647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78350F"/>
                </a:solidFill>
                <a:latin typeface="Consolas"/>
              </a:rPr>
              <a:t>check_nms_radius(nms_radius, mpp)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recomputes radius_px(mpp) fresh and asserts equality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guards against future drift, e.g. someone hardcoding a radius elsewhere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4901183"/>
            <a:ext cx="9326880" cy="1755647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78350F"/>
                </a:solidFill>
                <a:latin typeface="Consolas"/>
              </a:rPr>
              <a:t>check_no_cap(n_detections, caps=(max_detections=1e9,))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a dormant tripwire — cannot fire at the shipped 1e9 default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deliberately does NOT include MAX_PEAKS=100 (that would be the wrong invariant)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59" y="2852927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59" y="4754878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The chromatin_od ranking axis (opt-in)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Search &amp; 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1203799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64E63"/>
                </a:solidFill>
                <a:latin typeface="Consolas"/>
              </a:rPr>
              <a:t>cv2.copyMakeBorder(hem, pad=25, BORDER_REPLICATE)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64E63"/>
                </a:solidFill>
                <a:latin typeface="Calibri"/>
              </a:rPr>
              <a:t>–  so a detection near the ROI border still gets a fully-readable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447383"/>
            <a:ext cx="9326880" cy="1814682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score_detections(...) → chromatin_density(...) per detection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read_padded_patch, 51×51 window around each detection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np.partition → darkest (highest-value) 10% of pixels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mean of that top-10% = 'od' — absolute darkness, independent of tm_score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4408370"/>
            <a:ext cx="9326880" cy="1203799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78350F"/>
                </a:solidFill>
                <a:latin typeface="Consolas"/>
              </a:rPr>
              <a:t>sort_values('od', ascending=False, kind='mergesort')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STABLE sort — ties break by the incoming tm_score order (implicit secondary key)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5758474"/>
            <a:ext cx="9326880" cy="898357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4532D"/>
                </a:solidFill>
                <a:latin typeface="Consolas"/>
              </a:rPr>
              <a:t>reassign rank = 0..n−1 → return (detections, info)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59" y="2301079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59" y="4262065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59" y="5612169"/>
            <a:ext cx="0" cy="146305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Stage overview — call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run_pipeline.py — a shipped script, still not inside run_production_pipeline itself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96112"/>
            <a:ext cx="11274552" cy="658368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EA580C"/>
                </a:solidFill>
                <a:latin typeface="Consolas"/>
              </a:rPr>
              <a:t>run_pipeline_on_roi L114:  </a:t>
            </a:r>
            <a:r>
              <a:rPr sz="1150" b="0">
                <a:solidFill>
                  <a:srgbClr val="44403C"/>
                </a:solidFill>
                <a:latin typeface="Consolas"/>
              </a:rPr>
              <a:t>det_out, gt_out = ev.bucket_detections(detections, gt_eval, match_radius)</a:t>
            </a:r>
          </a:p>
          <a:p>
            <a:pPr>
              <a:lnSpc>
                <a:spcPct val="110000"/>
              </a:lnSpc>
            </a:pPr>
            <a:r>
              <a:rPr sz="1050" i="1">
                <a:solidFill>
                  <a:srgbClr val="78716C"/>
                </a:solidFill>
                <a:latin typeface="Calibri"/>
              </a:rPr>
              <a:t>summarize() and visualize() are NOT called here — main() calls them separately, after this function returns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74552" cy="50749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EA580C"/>
                </a:solidFill>
                <a:latin typeface="Consolas"/>
              </a:rPr>
              <a:t>run_pipeline_on_roi(fn, ann_id, seed_index, rank_key, ...)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run_pipeline.py:81 — ties Stages A–D together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11827"/>
                </a:solidFill>
                <a:latin typeface="Consolas"/>
              </a:rPr>
              <a:t>├─ Stage A load, Stage B select_annotation, Stage C run_production_pipeline</a:t>
            </a:r>
            <a:r>
              <a:rPr sz="1350" b="0">
                <a:solidFill>
                  <a:srgbClr val="6B7280"/>
                </a:solidFill>
                <a:latin typeface="Consolas"/>
              </a:rPr>
              <a:t>   (see earlier slides)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11827"/>
                </a:solidFill>
                <a:latin typeface="Consolas"/>
              </a:rPr>
              <a:t>└─ bucket_detections(detections, gt_eval, match_radius)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evaluate.py:108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11827"/>
                </a:solidFill>
                <a:latin typeface="Consolas"/>
              </a:rPr>
              <a:t>     └─ greedy_match(det_xy, gt_xy, radius)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evaluate.py:57 — KD-tree, best-first, one-to-one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EA580C"/>
                </a:solidFill>
                <a:latin typeface="Consolas"/>
              </a:rPr>
              <a:t>summarize(result, top_n=10)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run_pipeline.py:119 — precision / recall @ top_n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EA580C"/>
                </a:solidFill>
                <a:latin typeface="Consolas"/>
              </a:rPr>
              <a:t>visualize(result, ax, downsample=4, top_n=10)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run_pipeline.py:137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11827"/>
                </a:solidFill>
                <a:latin typeface="Consolas"/>
              </a:rPr>
              <a:t>├─ viz.overlay(rgb, gt_eval, det, seed_xy=click_xy, tpl_xy=template_xy, radius)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viz.py:19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11827"/>
                </a:solidFill>
                <a:latin typeface="Consolas"/>
              </a:rPr>
              <a:t>└─ viz.draw_box(ax, box, ...)</a:t>
            </a:r>
            <a:r>
              <a:rPr sz="1350" b="0">
                <a:solidFill>
                  <a:srgbClr val="6B7280"/>
                </a:solidFill>
                <a:latin typeface="Consolas"/>
              </a:rPr>
              <a:t>   viz.py:68 — box derived from template_xy ± base_size/2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EA580C"/>
                </a:solidFill>
                <a:latin typeface="Consolas"/>
              </a:rPr>
              <a:t>main() — the CLI</a:t>
            </a:r>
            <a:r>
              <a:rPr sz="1350" b="0">
                <a:solidFill>
                  <a:srgbClr val="6B7280"/>
                </a:solidFill>
                <a:latin typeface="Consolas"/>
              </a:rPr>
              <a:t>   run_pipeline.py:166 — argparse → run → print → visualize → save/show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Scoring: bucket_detections, greedy_match, 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called from run_pipeline_on_roi() — not from inside run_production_pipeline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92725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KDTree(gt_xy).query_radius(det_xy, r=radius)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candidate GT points within match radius, per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170835"/>
            <a:ext cx="9326880" cy="1397796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78350F"/>
                </a:solidFill>
                <a:latin typeface="Consolas"/>
              </a:rPr>
              <a:t>greedy_match — best-first over the ranked detections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each detection claims the nearest still-unclaimed GT within radius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one-to-one: a claimed GT point cannot be claimed twice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78350F"/>
                </a:solidFill>
                <a:latin typeface="Calibri"/>
              </a:rPr>
              <a:t>–  order is deliberate → makes the resulting P/R curve monotone by construction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3714935"/>
            <a:ext cx="9326880" cy="1397796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4532D"/>
                </a:solidFill>
                <a:latin typeface="Consolas"/>
              </a:rPr>
              <a:t>bucket_detections assigns 3 labels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4532D"/>
                </a:solidFill>
                <a:latin typeface="Calibri"/>
              </a:rPr>
              <a:t>–  human_correct_label — claimed a mitotic figure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4532D"/>
                </a:solidFill>
                <a:latin typeface="Calibri"/>
              </a:rPr>
              <a:t>–  human_rejected_label — claimed a look-alike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4532D"/>
                </a:solidFill>
                <a:latin typeface="Calibri"/>
              </a:rPr>
              <a:t>–  non_human_findings — claimed nothing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5259035"/>
            <a:ext cx="9326880" cy="1397796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4532D"/>
                </a:solidFill>
                <a:latin typeface="Consolas"/>
              </a:rPr>
              <a:t>summarize(result, top_n=10)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4532D"/>
                </a:solidFill>
                <a:latin typeface="Calibri"/>
              </a:rPr>
              <a:t>–  tp = count(bucket == human_correct_label) within det.head(top_n)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4532D"/>
                </a:solidFill>
                <a:latin typeface="Calibri"/>
              </a:rPr>
              <a:t>–  precision_at_top_n = tp / top_n,  recall_at_top_n = tp / n_gt_mitotic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4532D"/>
                </a:solidFill>
                <a:latin typeface="Calibri"/>
              </a:rPr>
              <a:t>–  also reports n_peaks, max_peaks_binding, n_detections straight from info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59" y="2024531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59" y="3568631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59" y="5112731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73736"/>
            <a:ext cx="868680" cy="49377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846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1D5DB"/>
                </a:solidFill>
                <a:latin typeface="Calibri"/>
              </a:rPr>
              <a:t>visualize() in run_pipeline.py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97280"/>
            <a:ext cx="9326880" cy="2916727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viz.overlay(rgb, gt_eval, det, seed_xy=click_xy, tpl_xy=template_xy, radius)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GT boxes: red = mitotic, yellow = look-alike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detection circles, colour-coded by bucket, drawn at the TRUE match radius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white/black star = raw click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cyan '+' = D8 template centre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4160311"/>
            <a:ext cx="9326880" cy="249652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50" b="1">
                <a:solidFill>
                  <a:srgbClr val="1E1B4B"/>
                </a:solidFill>
                <a:latin typeface="Consolas"/>
              </a:rPr>
              <a:t>viz.draw_box(ax, box)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box computed by visualize(): half=(base_size-1)//2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box = (ty-half, ty-half+base_size, tx-half, tx-half+base_size) around seed.template_xy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E1B4B"/>
                </a:solidFill>
                <a:latin typeface="Calibri"/>
              </a:rPr>
              <a:t>–  draws the base_size search-template footprint square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59" y="4014007"/>
            <a:ext cx="0" cy="146304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