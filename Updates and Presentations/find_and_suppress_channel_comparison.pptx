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sldIdLst>
    <p:sldId id="258" r:id="rId2"/>
    <p:sldId id="259" r:id="rId3"/>
    <p:sldId id="261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6"/>
    <p:restoredTop sz="94680"/>
  </p:normalViewPr>
  <p:slideViewPr>
    <p:cSldViewPr snapToGrid="0" snapToObjects="1">
      <p:cViewPr varScale="1">
        <p:scale>
          <a:sx n="144" d="100"/>
          <a:sy n="144" d="100"/>
        </p:scale>
        <p:origin x="216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731407"/>
            <a:ext cx="6480450" cy="3038878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315" y="5264528"/>
            <a:ext cx="6577526" cy="1001354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80" y="6426091"/>
            <a:ext cx="43575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2188" y="6426091"/>
            <a:ext cx="143144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82685" y="6426091"/>
            <a:ext cx="60311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0"/>
            <a:ext cx="4571999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22CE8C-DC47-AF8A-A37E-C04D364B8D63}"/>
              </a:ext>
            </a:extLst>
          </p:cNvPr>
          <p:cNvCxnSpPr>
            <a:cxnSpLocks/>
          </p:cNvCxnSpPr>
          <p:nvPr/>
        </p:nvCxnSpPr>
        <p:spPr>
          <a:xfrm>
            <a:off x="533400" y="6324773"/>
            <a:ext cx="648045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5A6ADE-4FF0-6E84-4D25-A3E7A481303D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646050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306735-74E7-C788-FB5F-7BC551ED5CDD}"/>
              </a:ext>
            </a:extLst>
          </p:cNvPr>
          <p:cNvCxnSpPr>
            <a:cxnSpLocks/>
          </p:cNvCxnSpPr>
          <p:nvPr/>
        </p:nvCxnSpPr>
        <p:spPr>
          <a:xfrm>
            <a:off x="533400" y="512722"/>
            <a:ext cx="6456409" cy="0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2769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332308"/>
            <a:ext cx="11253667" cy="90992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88931"/>
            <a:ext cx="11253668" cy="4700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055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F847F0-1D67-5F49-6571-5F248F11275B}"/>
              </a:ext>
            </a:extLst>
          </p:cNvPr>
          <p:cNvCxnSpPr>
            <a:cxnSpLocks/>
          </p:cNvCxnSpPr>
          <p:nvPr/>
        </p:nvCxnSpPr>
        <p:spPr>
          <a:xfrm>
            <a:off x="8173214" y="530425"/>
            <a:ext cx="3485386" cy="0"/>
          </a:xfrm>
          <a:prstGeom prst="line">
            <a:avLst/>
          </a:prstGeom>
          <a:ln w="412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8173214" y="5498461"/>
            <a:ext cx="348538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968" y="768351"/>
            <a:ext cx="3685656" cy="2843527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05681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3978" y="5681133"/>
            <a:ext cx="3655646" cy="664191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2571521-DF5C-DF9C-1A62-5F1513FC61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73978" y="6426091"/>
            <a:ext cx="229505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135B836-FBFB-89F8-B972-11036B55F5C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98013" y="6426091"/>
            <a:ext cx="87582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0AD8387-A9F9-E9E2-1138-08C0AA4957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674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0"/>
            <a:ext cx="9635668" cy="34551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428" y="5271844"/>
            <a:ext cx="9613065" cy="10013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CDCB79-1025-8102-1BC6-378AB173CBFF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F23CAD-F5FD-3FB3-B413-1F54592B07E7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496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7" y="3018408"/>
            <a:ext cx="8961120" cy="3247475"/>
          </a:xfrm>
        </p:spPr>
        <p:txBody>
          <a:bodyPr anchor="b">
            <a:normAutofit/>
          </a:bodyPr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D05DD5-DCB7-49C7-5E41-2DBD8B73D6D2}"/>
              </a:ext>
            </a:extLst>
          </p:cNvPr>
          <p:cNvCxnSpPr>
            <a:cxnSpLocks/>
          </p:cNvCxnSpPr>
          <p:nvPr/>
        </p:nvCxnSpPr>
        <p:spPr>
          <a:xfrm>
            <a:off x="530646" y="531958"/>
            <a:ext cx="1112795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FDA663-314D-CA26-DF41-CB3FDC0733F0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49563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2851"/>
            <a:ext cx="7525512" cy="1882595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4856" y="2502245"/>
            <a:ext cx="7492991" cy="3669956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973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26" y="2897442"/>
            <a:ext cx="6482747" cy="327983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430301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5850" y="6416667"/>
            <a:ext cx="142031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16160" y="6416667"/>
            <a:ext cx="60311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19999" y="0"/>
            <a:ext cx="4571999" cy="68579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6481B7-DF51-286F-B976-0777FDDAC524}"/>
              </a:ext>
            </a:extLst>
          </p:cNvPr>
          <p:cNvCxnSpPr>
            <a:cxnSpLocks/>
          </p:cNvCxnSpPr>
          <p:nvPr/>
        </p:nvCxnSpPr>
        <p:spPr>
          <a:xfrm>
            <a:off x="530352" y="2670800"/>
            <a:ext cx="6402856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5549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0" y="1399734"/>
            <a:ext cx="4136461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80" y="1398419"/>
            <a:ext cx="625002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2906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6738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52" y="743106"/>
            <a:ext cx="6277070" cy="531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F873DB-8FEF-C24C-ECA0-EABFFF560476}"/>
              </a:ext>
            </a:extLst>
          </p:cNvPr>
          <p:cNvCxnSpPr>
            <a:cxnSpLocks/>
          </p:cNvCxnSpPr>
          <p:nvPr/>
        </p:nvCxnSpPr>
        <p:spPr>
          <a:xfrm>
            <a:off x="5486400" y="528489"/>
            <a:ext cx="6172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3463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867" y="691867"/>
            <a:ext cx="5664732" cy="12126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1" y="533400"/>
            <a:ext cx="4953000" cy="5811928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865" y="2007652"/>
            <a:ext cx="5664732" cy="4315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6058518" y="530352"/>
            <a:ext cx="56000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1509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971" y="691866"/>
            <a:ext cx="6680630" cy="12173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3886200" cy="581192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971" y="2010699"/>
            <a:ext cx="6680630" cy="43139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84096" y="533400"/>
            <a:ext cx="668063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588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59" y="691867"/>
            <a:ext cx="6664559" cy="12173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17" y="2010699"/>
            <a:ext cx="6661902" cy="4330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533400"/>
            <a:ext cx="4038600" cy="57912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0" y="6426091"/>
            <a:ext cx="355383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3F4131-F439-B360-2C50-DC4ED02C5AF2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65677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292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76" y="691868"/>
            <a:ext cx="4577602" cy="14392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76" y="2211185"/>
            <a:ext cx="4577602" cy="3954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00" y="533399"/>
            <a:ext cx="6172200" cy="57912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44365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4412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555" y="512011"/>
            <a:ext cx="6792069" cy="125992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3886200" cy="5791201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1371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555" y="2148840"/>
            <a:ext cx="6792069" cy="4162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4953000" y="1892587"/>
            <a:ext cx="67056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434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935" y="691867"/>
            <a:ext cx="3052570" cy="20116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6BC46AA6-BED0-04C6-38E0-12160144CC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399" y="533400"/>
            <a:ext cx="7667626" cy="5788757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935" y="2889848"/>
            <a:ext cx="3052570" cy="3434752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5C6323EE-3C7E-2716-8BD0-C89545F04F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F01E841F-9F6D-0E74-84D5-4BA2AF78F5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CE2DCFD-EFAB-71DF-776D-014822C0AB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FBB608-C785-A34D-1B6D-96361A676495}"/>
              </a:ext>
            </a:extLst>
          </p:cNvPr>
          <p:cNvCxnSpPr>
            <a:cxnSpLocks/>
          </p:cNvCxnSpPr>
          <p:nvPr/>
        </p:nvCxnSpPr>
        <p:spPr>
          <a:xfrm>
            <a:off x="8727541" y="533400"/>
            <a:ext cx="293106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39169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99" y="4829695"/>
            <a:ext cx="4289051" cy="14131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11125200" cy="4013885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2890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79" y="4829695"/>
            <a:ext cx="6554822" cy="152954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608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55" y="691867"/>
            <a:ext cx="4067721" cy="15595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2521819"/>
            <a:ext cx="3886200" cy="380278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685" y="694944"/>
            <a:ext cx="6705600" cy="56296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39847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63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295957"/>
            <a:ext cx="4000501" cy="18895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1891"/>
            <a:ext cx="3886202" cy="360359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1" y="694944"/>
            <a:ext cx="6705599" cy="5506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354F31B-6E0C-9ACF-A3B4-2BE5DD2D21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D4992A1-A620-24C8-73C6-0C53DD6F38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2384E85-ACDE-270D-7478-1B88F47F14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53001" y="531891"/>
            <a:ext cx="67055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399" y="6324600"/>
            <a:ext cx="1112520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45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889" y="5074607"/>
            <a:ext cx="11166223" cy="1068234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419" y="495833"/>
            <a:ext cx="11159163" cy="42459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cap="none" baseline="0">
                <a:solidFill>
                  <a:schemeClr val="accent1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2400" cap="none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16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ADD3D14-222C-BA8A-E4C0-8637820CBA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FEF00E3-D3E5-F5AF-F035-66A1547A06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7222D35-3F63-3753-6F10-57879AFE3C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530352" y="483966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9569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1480" y="722376"/>
            <a:ext cx="10762488" cy="54589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7200" cap="all" baseline="0" dirty="0">
                <a:latin typeface="+mj-lt"/>
              </a:defRPr>
            </a:lvl1pPr>
            <a:lvl2pPr marL="457200" indent="0">
              <a:lnSpc>
                <a:spcPct val="90000"/>
              </a:lnSpc>
              <a:buNone/>
              <a:defRPr lang="en-US" sz="6600" cap="all" baseline="0" dirty="0">
                <a:latin typeface="+mj-lt"/>
              </a:defRPr>
            </a:lvl2pPr>
            <a:lvl3pPr marL="9144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3pPr>
            <a:lvl4pPr marL="13716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4pPr>
            <a:lvl5pPr marL="18288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B05AAB-D167-637A-451A-510AF3173A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28B3CFC-5715-1685-A039-A3162E1A6D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256ABD-1750-68C8-B3DD-DDDA3342C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C0A4E9-267E-8FCC-AB27-70F0E33E2D79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213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9764" y="5486400"/>
            <a:ext cx="9472473" cy="93969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100000"/>
              </a:lnSpc>
              <a:defRPr sz="1800" cap="all" baseline="0"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59761" y="667511"/>
            <a:ext cx="9413534" cy="401099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0" cap="none" spc="50" baseline="0">
                <a:solidFill>
                  <a:schemeClr val="accent1"/>
                </a:solidFill>
                <a:latin typeface="+mn-lt"/>
              </a:defRPr>
            </a:lvl1pPr>
            <a:lvl2pPr marL="228600" indent="0" algn="ctr">
              <a:lnSpc>
                <a:spcPct val="100000"/>
              </a:lnSpc>
              <a:buNone/>
              <a:defRPr sz="4000" b="0" cap="none" spc="50" baseline="0">
                <a:solidFill>
                  <a:schemeClr val="accent1"/>
                </a:solidFill>
                <a:latin typeface="+mn-lt"/>
              </a:defRPr>
            </a:lvl2pPr>
            <a:lvl3pPr marL="457200" indent="0" algn="ctr">
              <a:lnSpc>
                <a:spcPct val="100000"/>
              </a:lnSpc>
              <a:buNone/>
              <a:defRPr sz="3600" b="0" cap="none" spc="50" baseline="0">
                <a:solidFill>
                  <a:schemeClr val="accent1"/>
                </a:solidFill>
                <a:latin typeface="+mn-lt"/>
              </a:defRPr>
            </a:lvl3pPr>
            <a:lvl4pPr marL="685800" indent="0" algn="ctr">
              <a:lnSpc>
                <a:spcPct val="100000"/>
              </a:lnSpc>
              <a:buNone/>
              <a:defRPr sz="3200" b="0" cap="none" spc="50" baseline="0">
                <a:solidFill>
                  <a:schemeClr val="accent1"/>
                </a:solidFill>
                <a:latin typeface="+mn-lt"/>
              </a:defRPr>
            </a:lvl4pPr>
            <a:lvl5pPr marL="914400" indent="0" algn="ctr">
              <a:lnSpc>
                <a:spcPct val="100000"/>
              </a:lnSpc>
              <a:buNone/>
              <a:defRPr sz="2800" b="0" cap="none" spc="5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922A5-1A25-C2CB-DB6C-A2CCA7E6E6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AB04756-BB80-4C64-D871-0ADC3A7778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F70E65-4C3D-A600-1367-6FBA2FDDE5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95B307-0002-4F55-5801-73F564B37804}"/>
              </a:ext>
            </a:extLst>
          </p:cNvPr>
          <p:cNvCxnSpPr>
            <a:cxnSpLocks/>
          </p:cNvCxnSpPr>
          <p:nvPr/>
        </p:nvCxnSpPr>
        <p:spPr>
          <a:xfrm>
            <a:off x="1399690" y="5178692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6679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39498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8DBCC-227D-BB0A-7CD5-02D66CF1874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1714500"/>
            <a:ext cx="5305425" cy="4389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B7E01-A7E6-1882-4E9B-8EABAF71F96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936" y="1719072"/>
            <a:ext cx="5321808" cy="43905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3400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956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365760"/>
            <a:ext cx="11256264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048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FD932-A581-1A49-7FAF-0FED2E2BC1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2212975"/>
            <a:ext cx="530383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54404BD-8F2F-278E-C00B-3F1B1DE8CF2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238" y="2212975"/>
            <a:ext cx="532180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0032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695F-5E74-A380-8592-35FB6FC7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6149D-58D4-7497-818C-CF30244A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D2567-C532-BD45-FA85-03DBE3B3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0E491-56EB-F527-8A63-FBEEE619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666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9D82C-4607-0C9D-F241-D35DBEFE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CFCC5-7F8E-F549-57BA-7303E9F1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BEB6A-C028-DA7D-C516-2F1316F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646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541942"/>
            <a:ext cx="11256264" cy="2225185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3423301"/>
            <a:ext cx="11239499" cy="290129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D55B63-1406-DAD2-DBAB-BD87EA2FB540}"/>
              </a:ext>
            </a:extLst>
          </p:cNvPr>
          <p:cNvCxnSpPr>
            <a:cxnSpLocks/>
          </p:cNvCxnSpPr>
          <p:nvPr/>
        </p:nvCxnSpPr>
        <p:spPr>
          <a:xfrm>
            <a:off x="533400" y="297885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5778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836238"/>
            <a:ext cx="11256264" cy="2512732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4834052"/>
            <a:ext cx="11239499" cy="140547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000" dirty="0"/>
            </a:lvl1pPr>
            <a:lvl2pPr marL="457200" indent="0">
              <a:buNone/>
              <a:defRPr lang="en-US" sz="1800" dirty="0"/>
            </a:lvl2pPr>
            <a:lvl3pPr marL="914400" indent="0">
              <a:buNone/>
              <a:defRPr lang="en-US" sz="1600" dirty="0"/>
            </a:lvl3pPr>
            <a:lvl4pPr marL="1371600" indent="0">
              <a:buNone/>
              <a:defRPr lang="en-US" sz="1400" dirty="0"/>
            </a:lvl4pPr>
            <a:lvl5pPr marL="18288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899B98-11E6-7DB0-F79E-50A541026355}"/>
              </a:ext>
            </a:extLst>
          </p:cNvPr>
          <p:cNvCxnSpPr>
            <a:cxnSpLocks/>
          </p:cNvCxnSpPr>
          <p:nvPr/>
        </p:nvCxnSpPr>
        <p:spPr>
          <a:xfrm>
            <a:off x="533400" y="4531625"/>
            <a:ext cx="1112519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2444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916C8C-4316-E510-1962-E944B3382B43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83" y="691868"/>
            <a:ext cx="11243617" cy="9011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640" y="1754753"/>
            <a:ext cx="11240960" cy="4411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4857" y="6426091"/>
            <a:ext cx="4688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46205" y="6426091"/>
            <a:ext cx="33276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187" y="6426091"/>
            <a:ext cx="603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E8D67-00CA-7CDE-66AF-4E6E2CA0045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31564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  <p:sldLayoutId id="2147483786" r:id="rId18"/>
    <p:sldLayoutId id="2147483787" r:id="rId19"/>
    <p:sldLayoutId id="2147483788" r:id="rId20"/>
    <p:sldLayoutId id="2147483789" r:id="rId21"/>
    <p:sldLayoutId id="2147483790" r:id="rId22"/>
    <p:sldLayoutId id="2147483791" r:id="rId23"/>
    <p:sldLayoutId id="2147483792" r:id="rId24"/>
    <p:sldLayoutId id="2147483793" r:id="rId25"/>
    <p:sldLayoutId id="2147483794" r:id="rId26"/>
    <p:sldLayoutId id="2147483795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>
          <p15:clr>
            <a:srgbClr val="F26B43"/>
          </p15:clr>
        </p15:guide>
        <p15:guide id="2" pos="4128">
          <p15:clr>
            <a:srgbClr val="F26B43"/>
          </p15:clr>
        </p15:guide>
        <p15:guide id="3" pos="3456">
          <p15:clr>
            <a:srgbClr val="F26B43"/>
          </p15:clr>
        </p15:guide>
        <p15:guide id="4" pos="27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orient="horz" pos="336">
          <p15:clr>
            <a:srgbClr val="F26B43"/>
          </p15:clr>
        </p15:guide>
        <p15:guide id="8" pos="264">
          <p15:clr>
            <a:srgbClr val="F26B43"/>
          </p15:clr>
        </p15:guide>
        <p15:guide id="9" pos="4800">
          <p15:clr>
            <a:srgbClr val="F26B43"/>
          </p15:clr>
        </p15:guide>
        <p15:guide id="10" pos="2112">
          <p15:clr>
            <a:srgbClr val="F26B43"/>
          </p15:clr>
        </p15:guide>
        <p15:guide id="11" pos="54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DBC56-9E9E-C4FE-9228-99B8F332E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573EE-C1EF-0B24-CBBA-4B18FC1CC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600200"/>
            <a:ext cx="4866168" cy="4525963"/>
          </a:xfrm>
        </p:spPr>
        <p:txBody>
          <a:bodyPr>
            <a:normAutofit/>
          </a:bodyPr>
          <a:lstStyle/>
          <a:p>
            <a:r>
              <a:rPr lang="en-US" sz="2800" dirty="0"/>
              <a:t>Template selection:</a:t>
            </a:r>
          </a:p>
          <a:p>
            <a:pPr lvl="1"/>
            <a:r>
              <a:rPr lang="en-US" sz="2800" dirty="0"/>
              <a:t>Fine-tuned </a:t>
            </a:r>
            <a:r>
              <a:rPr lang="en-US" sz="2800" dirty="0" err="1"/>
              <a:t>bbox</a:t>
            </a:r>
            <a:r>
              <a:rPr lang="en-US" sz="2800" dirty="0"/>
              <a:t> (Otsu + centered)</a:t>
            </a:r>
          </a:p>
          <a:p>
            <a:pPr lvl="1"/>
            <a:r>
              <a:rPr lang="en-US" sz="2800" dirty="0"/>
              <a:t>Filter: pathologist-agreed annotations</a:t>
            </a:r>
          </a:p>
          <a:p>
            <a:r>
              <a:rPr lang="en-US" sz="2800" dirty="0"/>
              <a:t>Min-threshold at 0.5 (temporary)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D8F107-C077-E80C-24F8-97C23C6EC40C}"/>
              </a:ext>
            </a:extLst>
          </p:cNvPr>
          <p:cNvSpPr txBox="1"/>
          <p:nvPr/>
        </p:nvSpPr>
        <p:spPr>
          <a:xfrm>
            <a:off x="5890437" y="1743740"/>
            <a:ext cx="54013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Diagnostic: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Otsu-thresholding + </a:t>
            </a:r>
            <a:r>
              <a:rPr lang="en-US" sz="2400" dirty="0" err="1"/>
              <a:t>bbox</a:t>
            </a:r>
            <a:r>
              <a:rPr lang="en-US" sz="2400" dirty="0"/>
              <a:t>; compared size of mitotic fig. vs ann. box size (50x50 </a:t>
            </a:r>
            <a:r>
              <a:rPr lang="en-US" sz="2400" dirty="0" err="1"/>
              <a:t>px</a:t>
            </a:r>
            <a:r>
              <a:rPr lang="en-US" sz="2400" dirty="0"/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Features: area, solidity, eccentricity, elongation, extent, hematoxylin intensity, native segmented size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Class separability scored per domain via Bhattacharyya distance (0 = full overlap, higher = more separable)</a:t>
            </a:r>
          </a:p>
        </p:txBody>
      </p:sp>
    </p:spTree>
    <p:extLst>
      <p:ext uri="{BB962C8B-B14F-4D97-AF65-F5344CB8AC3E}">
        <p14:creationId xmlns:p14="http://schemas.microsoft.com/office/powerpoint/2010/main" val="1858258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6CA84-ABBF-1320-C3AC-99B7434E5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D2D2D-EB6D-5777-D9D6-CE10E4F7B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525963"/>
          </a:xfrm>
        </p:spPr>
        <p:txBody>
          <a:bodyPr>
            <a:normAutofit/>
          </a:bodyPr>
          <a:lstStyle/>
          <a:p>
            <a:r>
              <a:rPr lang="en-US" sz="2800" dirty="0"/>
              <a:t>No augmentation </a:t>
            </a:r>
          </a:p>
          <a:p>
            <a:r>
              <a:rPr lang="en-US" sz="2800" b="1" dirty="0"/>
              <a:t>Default 50x50 annotation as template; </a:t>
            </a:r>
            <a:r>
              <a:rPr lang="en-US" sz="2800" dirty="0"/>
              <a:t>No augmentation</a:t>
            </a:r>
          </a:p>
          <a:p>
            <a:r>
              <a:rPr lang="en-US" sz="2800" dirty="0"/>
              <a:t>Simple 8 </a:t>
            </a:r>
            <a:r>
              <a:rPr lang="en-US" sz="2800" dirty="0" err="1"/>
              <a:t>aug</a:t>
            </a:r>
            <a:r>
              <a:rPr lang="en-US" sz="2800" dirty="0"/>
              <a:t>: 90 degree rot + horizontal and vertical flips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A0CFFF-8049-70BC-1B6E-5FD546F162EE}"/>
              </a:ext>
            </a:extLst>
          </p:cNvPr>
          <p:cNvSpPr txBox="1">
            <a:spLocks/>
          </p:cNvSpPr>
          <p:nvPr/>
        </p:nvSpPr>
        <p:spPr>
          <a:xfrm>
            <a:off x="5585637" y="1600200"/>
            <a:ext cx="5638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For each, compared TM variants:</a:t>
            </a:r>
          </a:p>
          <a:p>
            <a:pPr lvl="1"/>
            <a:r>
              <a:rPr lang="en-US" dirty="0"/>
              <a:t>Raw RGB channel</a:t>
            </a:r>
          </a:p>
          <a:p>
            <a:pPr lvl="1"/>
            <a:r>
              <a:rPr lang="en-US" dirty="0"/>
              <a:t>Hematoxylin conc. (color deconvolution)</a:t>
            </a:r>
          </a:p>
          <a:p>
            <a:pPr lvl="1"/>
            <a:r>
              <a:rPr lang="en-US" dirty="0"/>
              <a:t>Inverted grayscale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503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DA106-CF80-770D-F473-0039B45F0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Daignostic</a:t>
            </a:r>
            <a:r>
              <a:rPr lang="en-US" dirty="0"/>
              <a:t>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19882-A206-C8C4-E91D-1E1662489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88931"/>
            <a:ext cx="5296715" cy="4700761"/>
          </a:xfrm>
        </p:spPr>
        <p:txBody>
          <a:bodyPr>
            <a:normAutofit lnSpcReduction="10000"/>
          </a:bodyPr>
          <a:lstStyle/>
          <a:p>
            <a:pPr lvl="0"/>
            <a:r>
              <a:rPr lang="en-US" sz="1800" b="1" dirty="0" err="1"/>
              <a:t>Bbox</a:t>
            </a:r>
            <a:r>
              <a:rPr lang="en-US" sz="1800" b="1" dirty="0"/>
              <a:t> is oversized in every domain</a:t>
            </a:r>
            <a:r>
              <a:rPr lang="en-US" sz="1800" dirty="0"/>
              <a:t>: mitotic native (Otsu) size, median 25px vs. current fixed </a:t>
            </a:r>
            <a:r>
              <a:rPr lang="en-US" sz="1800" b="1" dirty="0"/>
              <a:t>51px</a:t>
            </a:r>
            <a:r>
              <a:rPr lang="en-US" sz="1800" dirty="0"/>
              <a:t> template. </a:t>
            </a:r>
          </a:p>
          <a:p>
            <a:pPr lvl="1"/>
            <a:r>
              <a:rPr lang="en-US" sz="1800" dirty="0"/>
              <a:t>Per-domain medians run 24–41px. → default should be </a:t>
            </a:r>
            <a:r>
              <a:rPr lang="en-US" sz="1800" dirty="0" err="1"/>
              <a:t>tighten_bbox</a:t>
            </a:r>
            <a:r>
              <a:rPr lang="en-US" sz="1800" dirty="0"/>
              <a:t>=True, not the fixed box.</a:t>
            </a:r>
          </a:p>
          <a:p>
            <a:pPr lvl="0"/>
            <a:r>
              <a:rPr lang="en-US" sz="1800" b="1" dirty="0"/>
              <a:t>Segmentation coverage</a:t>
            </a:r>
            <a:r>
              <a:rPr lang="en-US" sz="1800" dirty="0"/>
              <a:t> ~78–79% across all 3 classes (solid, not complete — few thin spots at n&lt;10, e.g. one domain's mitotic count at 3/6 segmented).</a:t>
            </a:r>
          </a:p>
          <a:p>
            <a:pPr lvl="0"/>
            <a:r>
              <a:rPr lang="en-US" sz="1800" b="1" dirty="0"/>
              <a:t>Hematoxylin intensity separates mitotic figures from </a:t>
            </a:r>
            <a:r>
              <a:rPr lang="en-US" sz="1800" b="1" i="1" dirty="0"/>
              <a:t>ordinary</a:t>
            </a:r>
            <a:r>
              <a:rPr lang="en-US" sz="1800" b="1" dirty="0"/>
              <a:t> nuclei well</a:t>
            </a:r>
            <a:r>
              <a:rPr lang="en-US" sz="1800" dirty="0"/>
              <a:t>: Bhattacharyya distance 0.9–3.7 across domains (e.g. mast cell tumor 1.38, lung cancer 2.14, neuroendocrine 3.70).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1250E0-E776-0CDF-5676-4D7A9E8628D6}"/>
              </a:ext>
            </a:extLst>
          </p:cNvPr>
          <p:cNvSpPr txBox="1"/>
          <p:nvPr/>
        </p:nvSpPr>
        <p:spPr>
          <a:xfrm>
            <a:off x="5975498" y="1509823"/>
            <a:ext cx="531627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Shape features (area/solidity/eccentricity) barely separate anything</a:t>
            </a:r>
            <a:r>
              <a:rPr lang="en-US" dirty="0"/>
              <a:t> in the 2 largest, most reliable domains (mast cell tumor n=305, lymphosarcoma n=169): BD range 0.01–0.25 vs. ordinary nucleus.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Intensity does NOT separate mitotic from look-alikes:</a:t>
            </a:r>
            <a:r>
              <a:rPr lang="en-US" dirty="0"/>
              <a:t> the hard mimickers: BD only 0.16–0.19 in those same 2 domains, confirming look-alikes are dark/hyperchromatic too (rejected by a pathologist on morphology, not brightness).</a:t>
            </a:r>
          </a:p>
        </p:txBody>
      </p:sp>
    </p:spTree>
    <p:extLst>
      <p:ext uri="{BB962C8B-B14F-4D97-AF65-F5344CB8AC3E}">
        <p14:creationId xmlns:p14="http://schemas.microsoft.com/office/powerpoint/2010/main" val="1368880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8701A-7D63-B6E2-CC78-BC3194376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5E4BA-8B22-DA86-2AEE-915801C34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No augmentation: </a:t>
            </a:r>
          </a:p>
          <a:p>
            <a:pPr lvl="1"/>
            <a:r>
              <a:rPr lang="en-US" sz="2000" dirty="0"/>
              <a:t>RGB safer</a:t>
            </a:r>
          </a:p>
          <a:p>
            <a:pPr lvl="1"/>
            <a:r>
              <a:rPr lang="en-US" sz="2000" dirty="0"/>
              <a:t>Hematoxylin ‘won’ due to more hits</a:t>
            </a:r>
          </a:p>
          <a:p>
            <a:pPr lvl="1"/>
            <a:r>
              <a:rPr lang="en-US" sz="2000" dirty="0"/>
              <a:t>Inv. GS unclear</a:t>
            </a:r>
          </a:p>
          <a:p>
            <a:r>
              <a:rPr lang="en-US" sz="2000" b="1" dirty="0"/>
              <a:t>Default 50x50 annotation as template; </a:t>
            </a:r>
            <a:r>
              <a:rPr lang="en-US" sz="2000" dirty="0"/>
              <a:t>No augmentation (still running)</a:t>
            </a:r>
          </a:p>
          <a:p>
            <a:r>
              <a:rPr lang="en-US" sz="2000" dirty="0"/>
              <a:t>Simple 8 </a:t>
            </a:r>
            <a:r>
              <a:rPr lang="en-US" sz="2000" dirty="0" err="1"/>
              <a:t>aug</a:t>
            </a:r>
            <a:r>
              <a:rPr lang="en-US" sz="2000" dirty="0"/>
              <a:t>: 90 degree rot + horizontal and vertical flips </a:t>
            </a:r>
          </a:p>
          <a:p>
            <a:pPr lvl="1"/>
            <a:r>
              <a:rPr lang="en-US" sz="2000" dirty="0"/>
              <a:t>No decisive winner</a:t>
            </a:r>
          </a:p>
          <a:p>
            <a:pPr lvl="1"/>
            <a:r>
              <a:rPr lang="en-US" sz="2000" dirty="0"/>
              <a:t>Multiple channels resulted in extremely low recall</a:t>
            </a:r>
          </a:p>
          <a:p>
            <a:pPr lvl="1"/>
            <a:r>
              <a:rPr lang="en-US" sz="2000" dirty="0"/>
              <a:t>Augmentations pushed TPs down due to too many hits</a:t>
            </a:r>
          </a:p>
          <a:p>
            <a:pPr lvl="1"/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25848800"/>
      </p:ext>
    </p:extLst>
  </p:cSld>
  <p:clrMapOvr>
    <a:masterClrMapping/>
  </p:clrMapOvr>
</p:sld>
</file>

<file path=ppt/theme/theme1.xml><?xml version="1.0" encoding="utf-8"?>
<a:theme xmlns:a="http://schemas.openxmlformats.org/drawingml/2006/main" name="Lines">
  <a:themeElements>
    <a:clrScheme name="Lines">
      <a:dk1>
        <a:srgbClr val="0F0F0F"/>
      </a:dk1>
      <a:lt1>
        <a:sysClr val="window" lastClr="FFFFFF"/>
      </a:lt1>
      <a:dk2>
        <a:srgbClr val="0A242A"/>
      </a:dk2>
      <a:lt2>
        <a:srgbClr val="F5F2ED"/>
      </a:lt2>
      <a:accent1>
        <a:srgbClr val="E45730"/>
      </a:accent1>
      <a:accent2>
        <a:srgbClr val="27717D"/>
      </a:accent2>
      <a:accent3>
        <a:srgbClr val="8CA8B5"/>
      </a:accent3>
      <a:accent4>
        <a:srgbClr val="607381"/>
      </a:accent4>
      <a:accent5>
        <a:srgbClr val="A39990"/>
      </a:accent5>
      <a:accent6>
        <a:srgbClr val="BA3106"/>
      </a:accent6>
      <a:hlink>
        <a:srgbClr val="E45730"/>
      </a:hlink>
      <a:folHlink>
        <a:srgbClr val="24717F"/>
      </a:folHlink>
    </a:clrScheme>
    <a:fontScheme name="Univers Condensed Arial Light">
      <a:majorFont>
        <a:latin typeface="Univers Condensed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ines" id="{73C0D9B4-D252-4142-B71F-89E39AB3FA27}" vid="{AF756BC4-928A-4ACB-8AC0-2FBFD00AF4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73</TotalTime>
  <Words>374</Words>
  <Application>Microsoft Macintosh PowerPoint</Application>
  <PresentationFormat>Widescreen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Arial Nova Light</vt:lpstr>
      <vt:lpstr>Univers Condensed</vt:lpstr>
      <vt:lpstr>Lines</vt:lpstr>
      <vt:lpstr>Progress</vt:lpstr>
      <vt:lpstr>Experiments</vt:lpstr>
      <vt:lpstr>Daignostic results</vt:lpstr>
      <vt:lpstr>Results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Mohini Anand</cp:lastModifiedBy>
  <cp:revision>4</cp:revision>
  <dcterms:created xsi:type="dcterms:W3CDTF">2013-01-27T09:14:16Z</dcterms:created>
  <dcterms:modified xsi:type="dcterms:W3CDTF">2026-08-27T20:52:46Z</dcterms:modified>
  <cp:category/>
</cp:coreProperties>
</file>